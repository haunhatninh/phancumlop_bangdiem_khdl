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2D6CDF"/>
              </a:gs>
              <a:gs pos="100000">
                <a:srgbClr val="7B2FF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0" y="1097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1A1A2E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Calibri"/>
              </a:defRPr>
            </a:pPr>
            <a:r>
              <a:t>PHÂN CỤM SINH VIÊN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D6CDF"/>
                </a:solidFill>
                <a:latin typeface="Calibri"/>
              </a:defRPr>
            </a:pPr>
            <a:r>
              <a:t>THEO NĂNG LỰC HỌC TẬP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931920"/>
            <a:ext cx="3931920" cy="36576"/>
          </a:xfrm>
          <a:prstGeom prst="rect">
            <a:avLst/>
          </a:prstGeom>
          <a:gradFill rotWithShape="1">
            <a:gsLst>
              <a:gs pos="0">
                <a:srgbClr val="2D6CDF"/>
              </a:gs>
              <a:gs pos="100000">
                <a:srgbClr val="7B2FF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A5A6E"/>
                </a:solidFill>
                <a:latin typeface="Calibri"/>
              </a:defRPr>
            </a:pPr>
            <a:r>
              <a:t>Phương pháp: K-Means &amp; Hierarchical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A5A6E"/>
                </a:solidFill>
                <a:latin typeface="Calibri"/>
              </a:defRPr>
            </a:pPr>
            <a:r>
              <a:t>Môn: Khoa Học Dữ Liệu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Calibri"/>
              </a:defRPr>
            </a:pPr>
            <a:r>
              <a:t>Lớp K58KTP  •  Năm học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2D6CDF"/>
              </a:gs>
              <a:gs pos="100000">
                <a:srgbClr val="7B2FF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📋  NỘI DUNG TRÌNH BÀY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685800" cy="6858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Giới thiệu bài toán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7190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Calibri"/>
              </a:defRPr>
            </a:pPr>
            <a:r>
              <a:t>Đặt vấn đề &amp; mục tiêu phân cụm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331720"/>
            <a:ext cx="685800" cy="6858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331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Dữ liệu sử dụng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6791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Calibri"/>
              </a:defRPr>
            </a:pPr>
            <a:r>
              <a:t>Nguồn dữ liệu, cấu trúc, tiền xử lý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291840"/>
            <a:ext cx="685800" cy="6858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38328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291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Phương pháp phân cụm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6393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Calibri"/>
              </a:defRPr>
            </a:pPr>
            <a:r>
              <a:t>K-Means &amp; Hierarchical Clustering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251960"/>
            <a:ext cx="685800" cy="6858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34340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Kết quả phân cụm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5994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Calibri"/>
              </a:defRPr>
            </a:pPr>
            <a:r>
              <a:t>Đánh giá &amp; phân loại sinh viên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212080"/>
            <a:ext cx="685800" cy="6858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30352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Kết luận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5595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Calibri"/>
              </a:defRPr>
            </a:pPr>
            <a:r>
              <a:t>Nhận xét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2D6CDF"/>
              </a:gs>
              <a:gs pos="100000">
                <a:srgbClr val="7B2FF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01  GIỚI THIỆU BÀI TOÁN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Calibri"/>
              </a:defRPr>
            </a:pPr>
            <a:r>
              <a:t>❓  Đặt vấn đề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Phân loại SV bằng ngưỡng cứng → không khách quan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Cần phát hiện nhóm tự nhiên trong dữ liệu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Dựa trên kết quả học tập toàn diện (52 môn)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Bài toán Unsupervised Learning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0352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4864" cy="2011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Calibri"/>
              </a:defRPr>
            </a:pPr>
            <a:r>
              <a:t>🎯  Mục tiêu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Phân cụm lớp K58KTP thành 3 nhóm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Nhóm: Giỏi — Khá — Trung bình/Yếu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3172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Sử dụng K-Means (chính) + Hierarchical (xác nhận)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060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Đánh giá chất lượng bằng Silhouette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11064240" cy="2560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54864" cy="237744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776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6CDF"/>
                </a:solidFill>
                <a:latin typeface="Calibri"/>
              </a:defRPr>
            </a:pPr>
            <a:r>
              <a:t>⚙️  Quy trình thực hiện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4340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31520" y="46177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  ① Thu thập dữ liệu    →    ② Sửa lỗi &amp; lọc dữ liệu    →    ③ Trích xuất đặc trưng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9204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731520" y="51663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  ④ Chuẩn hóa (StandardScaler)    →    ⑤ K-Means + Hierarchical    →    ⑥ Gán nhãn &amp; xuất kết quả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2D6CDF"/>
              </a:gs>
              <a:gs pos="100000">
                <a:srgbClr val="7B2FF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02  DỮ LIỆU SỬ DỤNG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2560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" cy="237744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6CDF"/>
                </a:solidFill>
                <a:latin typeface="Calibri"/>
              </a:defRPr>
            </a:pPr>
            <a:r>
              <a:t>📋  Thông tin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📄 File: TỔNG HỢP ĐIỂM K58KTP.xlsx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👥 Tổng: 71 SV → Loại 16 SV chưa có điểm → 55 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📚 Số môn học: 52 môn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📊 Thang điểm: Hệ 4 (0.0 - 4.0)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⚠️  Giá trị thiếu: 26% — để trống, không điền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🔧 Sửa lỗi Excel chuyển điểm → ngày tháng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5303520" cy="256032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303520" cy="292608"/>
          </a:xfrm>
          <a:prstGeom prst="rect">
            <a:avLst/>
          </a:prstGeom>
          <a:solidFill>
            <a:srgbClr val="2D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2070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090A0"/>
                </a:solidFill>
                <a:latin typeface="Consolas"/>
              </a:defRPr>
            </a:pPr>
            <a:r>
              <a:t>load_data()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499616"/>
            <a:ext cx="5029200" cy="2176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A9955"/>
                </a:solidFill>
                <a:latin typeface="Consolas"/>
              </a:rPr>
              <a:t># === DOC DU LIEU ===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9CDCFE"/>
                </a:solidFill>
                <a:latin typeface="Consolas"/>
              </a:rPr>
              <a:t>df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4EC9B0"/>
                </a:solidFill>
                <a:latin typeface="Consolas"/>
              </a:rPr>
              <a:t>pd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D4D4D4"/>
                </a:solidFill>
                <a:latin typeface="Consolas"/>
              </a:rPr>
              <a:t>read_excel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</a:rPr>
              <a:t>file</a:t>
            </a:r>
            <a:r>
              <a:rPr sz="900">
                <a:solidFill>
                  <a:srgbClr val="D4D4D4"/>
                </a:solidFill>
                <a:latin typeface="Consolas"/>
              </a:rPr>
              <a:t>,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header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None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A9955"/>
                </a:solidFill>
                <a:latin typeface="Consolas"/>
              </a:rPr>
              <a:t># Sua loi Excel: diem -&gt; ngay thang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586C0"/>
                </a:solidFill>
                <a:latin typeface="Consolas"/>
              </a:rPr>
              <a:t>def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fix_date_to_score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</a:rPr>
              <a:t>val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  <a:r>
              <a:rPr sz="900">
                <a:solidFill>
                  <a:srgbClr val="D4D4D4"/>
                </a:solidFill>
                <a:latin typeface="Consolas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</a:rPr>
              <a:t>if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4FC9B0"/>
                </a:solidFill>
                <a:latin typeface="Consolas"/>
              </a:rPr>
              <a:t>hasattr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</a:rPr>
              <a:t>val</a:t>
            </a:r>
            <a:r>
              <a:rPr sz="900">
                <a:solidFill>
                  <a:srgbClr val="D4D4D4"/>
                </a:solidFill>
                <a:latin typeface="Consolas"/>
              </a:rPr>
              <a:t>,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CE9178"/>
                </a:solidFill>
                <a:latin typeface="Consolas"/>
              </a:rPr>
              <a:t>'day'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  <a:r>
              <a:rPr sz="900">
                <a:solidFill>
                  <a:srgbClr val="D4D4D4"/>
                </a:solidFill>
                <a:latin typeface="Consolas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</a:rPr>
              <a:t>return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4FC9B0"/>
                </a:solidFill>
                <a:latin typeface="Consolas"/>
              </a:rPr>
              <a:t>float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</a:rPr>
              <a:t>val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D4D4D4"/>
                </a:solidFill>
                <a:latin typeface="Consolas"/>
              </a:rPr>
              <a:t>day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</a:rPr>
              <a:t>return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4FC9B0"/>
                </a:solidFill>
                <a:latin typeface="Consolas"/>
              </a:rPr>
              <a:t>float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</a:rPr>
              <a:t>val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A9955"/>
                </a:solidFill>
                <a:latin typeface="Consolas"/>
              </a:rPr>
              <a:t># KHONG xu ly NaN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A9955"/>
                </a:solidFill>
                <a:latin typeface="Consolas"/>
              </a:rPr>
              <a:t># Loai SV khong co diem nao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9CDCFE"/>
                </a:solidFill>
                <a:latin typeface="Consolas"/>
              </a:rPr>
              <a:t>valid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9CDCFE"/>
                </a:solidFill>
                <a:latin typeface="Consolas"/>
              </a:rPr>
              <a:t>df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D4D4D4"/>
                </a:solidFill>
                <a:latin typeface="Consolas"/>
              </a:rPr>
              <a:t>notna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4FC9B0"/>
                </a:solidFill>
                <a:latin typeface="Consolas"/>
              </a:rPr>
              <a:t>any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</a:rPr>
              <a:t>axis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B5CEA8"/>
                </a:solidFill>
                <a:latin typeface="Consolas"/>
              </a:rPr>
              <a:t>1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9CDCFE"/>
                </a:solidFill>
                <a:latin typeface="Consolas"/>
              </a:rPr>
              <a:t>df_students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9CDCFE"/>
                </a:solidFill>
                <a:latin typeface="Consolas"/>
              </a:rPr>
              <a:t>df</a:t>
            </a:r>
            <a:r>
              <a:rPr sz="900">
                <a:solidFill>
                  <a:srgbClr val="D4D4D4"/>
                </a:solidFill>
                <a:latin typeface="Consolas"/>
              </a:rPr>
              <a:t>[</a:t>
            </a:r>
            <a:r>
              <a:rPr sz="900">
                <a:solidFill>
                  <a:srgbClr val="9CDCFE"/>
                </a:solidFill>
                <a:latin typeface="Consolas"/>
              </a:rPr>
              <a:t>valid</a:t>
            </a:r>
            <a:r>
              <a:rPr sz="900">
                <a:solidFill>
                  <a:srgbClr val="D4D4D4"/>
                </a:solidFill>
                <a:latin typeface="Consolas"/>
              </a:rPr>
              <a:t>]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6A9955"/>
                </a:solidFill>
                <a:latin typeface="Consolas"/>
              </a:rPr>
              <a:t># 71-&gt;55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23360"/>
            <a:ext cx="5303520" cy="2468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54864" cy="228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97316"/>
                </a:solidFill>
                <a:latin typeface="Calibri"/>
              </a:defRPr>
            </a:pPr>
            <a:r>
              <a:t>🔢  7 đặc trưng cho phân cụm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1. GPA trung bình  (mean, bỏ qua NaN)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006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2. Độ lệch chuẩn  (std)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3. Điểm thấp nhất  (min)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492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4. Điểm cao nhất  (max)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235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5. Trung vị  (median)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978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6. Tỷ lệ môn Giỏi  (≥ 3.2)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1722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7. Tỷ lệ môn Yếu  (&lt; 2.0)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023360"/>
            <a:ext cx="5303520" cy="246888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023360"/>
            <a:ext cx="5303520" cy="292608"/>
          </a:xfrm>
          <a:prstGeom prst="rect">
            <a:avLst/>
          </a:prstGeom>
          <a:solidFill>
            <a:srgbClr val="2D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0416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090A0"/>
                </a:solidFill>
                <a:latin typeface="Consolas"/>
              </a:defRPr>
            </a:pPr>
            <a:r>
              <a:t>prepare_features()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334256"/>
            <a:ext cx="5029200" cy="2084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A9955"/>
                </a:solidFill>
                <a:latin typeface="Consolas"/>
              </a:rPr>
              <a:t># === TRICH XUAT DAC TRUNG ===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ft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4EC9B0"/>
                </a:solidFill>
                <a:latin typeface="Consolas"/>
              </a:rPr>
              <a:t>pd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D4D4D4"/>
                </a:solidFill>
                <a:latin typeface="Consolas"/>
              </a:rPr>
              <a:t>DataFrame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A9955"/>
                </a:solidFill>
                <a:latin typeface="Consolas"/>
              </a:rPr>
              <a:t># pandas tu bo qua NaN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ft</a:t>
            </a:r>
            <a:r>
              <a:rPr sz="900">
                <a:solidFill>
                  <a:srgbClr val="D4D4D4"/>
                </a:solidFill>
                <a:latin typeface="Consolas"/>
              </a:rPr>
              <a:t>[</a:t>
            </a:r>
            <a:r>
              <a:rPr sz="900">
                <a:solidFill>
                  <a:srgbClr val="CE9178"/>
                </a:solidFill>
                <a:latin typeface="Consolas"/>
              </a:rPr>
              <a:t>'GPA_TB'</a:t>
            </a:r>
            <a:r>
              <a:rPr sz="900">
                <a:solidFill>
                  <a:srgbClr val="D4D4D4"/>
                </a:solidFill>
                <a:latin typeface="Consolas"/>
              </a:rPr>
              <a:t>]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9CDCFE"/>
                </a:solidFill>
                <a:latin typeface="Consolas"/>
              </a:rPr>
              <a:t>df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D4D4D4"/>
                </a:solidFill>
                <a:latin typeface="Consolas"/>
              </a:rPr>
              <a:t>mean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</a:rPr>
              <a:t>axis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B5CEA8"/>
                </a:solidFill>
                <a:latin typeface="Consolas"/>
              </a:rPr>
              <a:t>1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ft</a:t>
            </a:r>
            <a:r>
              <a:rPr sz="900">
                <a:solidFill>
                  <a:srgbClr val="D4D4D4"/>
                </a:solidFill>
                <a:latin typeface="Consolas"/>
              </a:rPr>
              <a:t>[</a:t>
            </a:r>
            <a:r>
              <a:rPr sz="900">
                <a:solidFill>
                  <a:srgbClr val="CE9178"/>
                </a:solidFill>
                <a:latin typeface="Consolas"/>
              </a:rPr>
              <a:t>'GPA_Std'</a:t>
            </a:r>
            <a:r>
              <a:rPr sz="900">
                <a:solidFill>
                  <a:srgbClr val="D4D4D4"/>
                </a:solidFill>
                <a:latin typeface="Consolas"/>
              </a:rPr>
              <a:t>]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9CDCFE"/>
                </a:solidFill>
                <a:latin typeface="Consolas"/>
              </a:rPr>
              <a:t>df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D4D4D4"/>
                </a:solidFill>
                <a:latin typeface="Consolas"/>
              </a:rPr>
              <a:t>std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</a:rPr>
              <a:t>axis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B5CEA8"/>
                </a:solidFill>
                <a:latin typeface="Consolas"/>
              </a:rPr>
              <a:t>1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ft</a:t>
            </a:r>
            <a:r>
              <a:rPr sz="900">
                <a:solidFill>
                  <a:srgbClr val="D4D4D4"/>
                </a:solidFill>
                <a:latin typeface="Consolas"/>
              </a:rPr>
              <a:t>[</a:t>
            </a:r>
            <a:r>
              <a:rPr sz="900">
                <a:solidFill>
                  <a:srgbClr val="CE9178"/>
                </a:solidFill>
                <a:latin typeface="Consolas"/>
              </a:rPr>
              <a:t>'GPA_Min'</a:t>
            </a:r>
            <a:r>
              <a:rPr sz="900">
                <a:solidFill>
                  <a:srgbClr val="D4D4D4"/>
                </a:solidFill>
                <a:latin typeface="Consolas"/>
              </a:rPr>
              <a:t>]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9CDCFE"/>
                </a:solidFill>
                <a:latin typeface="Consolas"/>
              </a:rPr>
              <a:t>df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D4D4D4"/>
                </a:solidFill>
                <a:latin typeface="Consolas"/>
              </a:rPr>
              <a:t>min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</a:rPr>
              <a:t>axis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B5CEA8"/>
                </a:solidFill>
                <a:latin typeface="Consolas"/>
              </a:rPr>
              <a:t>1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ft</a:t>
            </a:r>
            <a:r>
              <a:rPr sz="900">
                <a:solidFill>
                  <a:srgbClr val="D4D4D4"/>
                </a:solidFill>
                <a:latin typeface="Consolas"/>
              </a:rPr>
              <a:t>[</a:t>
            </a:r>
            <a:r>
              <a:rPr sz="900">
                <a:solidFill>
                  <a:srgbClr val="CE9178"/>
                </a:solidFill>
                <a:latin typeface="Consolas"/>
              </a:rPr>
              <a:t>'GPA_Max'</a:t>
            </a:r>
            <a:r>
              <a:rPr sz="900">
                <a:solidFill>
                  <a:srgbClr val="D4D4D4"/>
                </a:solidFill>
                <a:latin typeface="Consolas"/>
              </a:rPr>
              <a:t>]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9CDCFE"/>
                </a:solidFill>
                <a:latin typeface="Consolas"/>
              </a:rPr>
              <a:t>df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D4D4D4"/>
                </a:solidFill>
                <a:latin typeface="Consolas"/>
              </a:rPr>
              <a:t>max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</a:rPr>
              <a:t>axis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B5CEA8"/>
                </a:solidFill>
                <a:latin typeface="Consolas"/>
              </a:rPr>
              <a:t>1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ft</a:t>
            </a:r>
            <a:r>
              <a:rPr sz="900">
                <a:solidFill>
                  <a:srgbClr val="D4D4D4"/>
                </a:solidFill>
                <a:latin typeface="Consolas"/>
              </a:rPr>
              <a:t>[</a:t>
            </a:r>
            <a:r>
              <a:rPr sz="900">
                <a:solidFill>
                  <a:srgbClr val="CE9178"/>
                </a:solidFill>
                <a:latin typeface="Consolas"/>
              </a:rPr>
              <a:t>'GPA_Med'</a:t>
            </a:r>
            <a:r>
              <a:rPr sz="900">
                <a:solidFill>
                  <a:srgbClr val="D4D4D4"/>
                </a:solidFill>
                <a:latin typeface="Consolas"/>
              </a:rPr>
              <a:t>]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9CDCFE"/>
                </a:solidFill>
                <a:latin typeface="Consolas"/>
              </a:rPr>
              <a:t>df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D4D4D4"/>
                </a:solidFill>
                <a:latin typeface="Consolas"/>
              </a:rPr>
              <a:t>median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</a:rPr>
              <a:t>axis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B5CEA8"/>
                </a:solidFill>
                <a:latin typeface="Consolas"/>
              </a:rPr>
              <a:t>1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n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9CDCFE"/>
                </a:solidFill>
                <a:latin typeface="Consolas"/>
              </a:rPr>
              <a:t>df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D4D4D4"/>
                </a:solidFill>
                <a:latin typeface="Consolas"/>
              </a:rPr>
              <a:t>notna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4FC9B0"/>
                </a:solidFill>
                <a:latin typeface="Consolas"/>
              </a:rPr>
              <a:t>sum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</a:rPr>
              <a:t>axis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B5CEA8"/>
                </a:solidFill>
                <a:latin typeface="Consolas"/>
              </a:rPr>
              <a:t>1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ft</a:t>
            </a:r>
            <a:r>
              <a:rPr sz="900">
                <a:solidFill>
                  <a:srgbClr val="D4D4D4"/>
                </a:solidFill>
                <a:latin typeface="Consolas"/>
              </a:rPr>
              <a:t>[</a:t>
            </a:r>
            <a:r>
              <a:rPr sz="900">
                <a:solidFill>
                  <a:srgbClr val="CE9178"/>
                </a:solidFill>
                <a:latin typeface="Consolas"/>
              </a:rPr>
              <a:t>'TL_Gioi'</a:t>
            </a:r>
            <a:r>
              <a:rPr sz="900">
                <a:solidFill>
                  <a:srgbClr val="D4D4D4"/>
                </a:solidFill>
                <a:latin typeface="Consolas"/>
              </a:rPr>
              <a:t>]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9CDCFE"/>
                </a:solidFill>
                <a:latin typeface="Consolas"/>
              </a:rPr>
              <a:t>df</a:t>
            </a:r>
            <a:r>
              <a:rPr sz="900">
                <a:solidFill>
                  <a:srgbClr val="D4D4D4"/>
                </a:solidFill>
                <a:latin typeface="Consolas"/>
              </a:rPr>
              <a:t>&gt;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B5CEA8"/>
                </a:solidFill>
                <a:latin typeface="Consolas"/>
              </a:rPr>
              <a:t>3.2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4FC9B0"/>
                </a:solidFill>
                <a:latin typeface="Consolas"/>
              </a:rPr>
              <a:t>sum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B5CEA8"/>
                </a:solidFill>
                <a:latin typeface="Consolas"/>
              </a:rPr>
              <a:t>1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  <a:r>
              <a:rPr sz="900">
                <a:solidFill>
                  <a:srgbClr val="D4D4D4"/>
                </a:solidFill>
                <a:latin typeface="Consolas"/>
              </a:rPr>
              <a:t>/</a:t>
            </a:r>
            <a:r>
              <a:rPr sz="900">
                <a:solidFill>
                  <a:srgbClr val="D4D4D4"/>
                </a:solidFill>
                <a:latin typeface="Consolas"/>
              </a:rPr>
              <a:t>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ft</a:t>
            </a:r>
            <a:r>
              <a:rPr sz="900">
                <a:solidFill>
                  <a:srgbClr val="D4D4D4"/>
                </a:solidFill>
                <a:latin typeface="Consolas"/>
              </a:rPr>
              <a:t>[</a:t>
            </a:r>
            <a:r>
              <a:rPr sz="900">
                <a:solidFill>
                  <a:srgbClr val="CE9178"/>
                </a:solidFill>
                <a:latin typeface="Consolas"/>
              </a:rPr>
              <a:t>'TL_Yeu'</a:t>
            </a:r>
            <a:r>
              <a:rPr sz="900">
                <a:solidFill>
                  <a:srgbClr val="D4D4D4"/>
                </a:solidFill>
                <a:latin typeface="Consolas"/>
              </a:rPr>
              <a:t>]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9CDCFE"/>
                </a:solidFill>
                <a:latin typeface="Consolas"/>
              </a:rPr>
              <a:t>df</a:t>
            </a:r>
            <a:r>
              <a:rPr sz="900">
                <a:solidFill>
                  <a:srgbClr val="D4D4D4"/>
                </a:solidFill>
                <a:latin typeface="Consolas"/>
              </a:rPr>
              <a:t>&lt;</a:t>
            </a:r>
            <a:r>
              <a:rPr sz="900">
                <a:solidFill>
                  <a:srgbClr val="B5CEA8"/>
                </a:solidFill>
                <a:latin typeface="Consolas"/>
              </a:rPr>
              <a:t>2.0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4FC9B0"/>
                </a:solidFill>
                <a:latin typeface="Consolas"/>
              </a:rPr>
              <a:t>sum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B5CEA8"/>
                </a:solidFill>
                <a:latin typeface="Consolas"/>
              </a:rPr>
              <a:t>1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  <a:r>
              <a:rPr sz="900">
                <a:solidFill>
                  <a:srgbClr val="D4D4D4"/>
                </a:solidFill>
                <a:latin typeface="Consolas"/>
              </a:rPr>
              <a:t>/</a:t>
            </a:r>
            <a:r>
              <a:rPr sz="900">
                <a:solidFill>
                  <a:srgbClr val="D4D4D4"/>
                </a:solidFill>
                <a:latin typeface="Consolas"/>
              </a:rPr>
              <a:t>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2D6CDF"/>
              </a:gs>
              <a:gs pos="100000">
                <a:srgbClr val="7B2FF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03  PHƯƠNG PHÁP PHÂN CỤM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" cy="210312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6CDF"/>
                </a:solidFill>
                <a:latin typeface="Calibri"/>
              </a:defRPr>
            </a:pPr>
            <a:r>
              <a:t>🔵  K-Means Clustering (Phương pháp chính)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① Chọn K=3 tâm cụm ban đầu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② Gán mỗi SV vào cụm có tâm gần nhất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③ Cập nhật tâm cụm = trung bình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④ Lặp ②-③ đến khi hội tụ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⚡ Chạy 30 lần, chọn kết quả tốt nhất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03520" cy="2286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303520" cy="292608"/>
          </a:xfrm>
          <a:prstGeom prst="rect">
            <a:avLst/>
          </a:prstGeom>
          <a:solidFill>
            <a:srgbClr val="2D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070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090A0"/>
                </a:solidFill>
                <a:latin typeface="Consolas"/>
              </a:defRPr>
            </a:pPr>
            <a:r>
              <a:t>K-Means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99616"/>
            <a:ext cx="5029200" cy="19019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A9955"/>
                </a:solidFill>
                <a:latin typeface="Consolas"/>
              </a:rPr>
              <a:t># === K-MEANS CLUSTERING ===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586C0"/>
                </a:solidFill>
                <a:latin typeface="Consolas"/>
              </a:rPr>
              <a:t>from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sklearn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D4D4D4"/>
                </a:solidFill>
                <a:latin typeface="Consolas"/>
              </a:rPr>
              <a:t>cluster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</a:rPr>
              <a:t>import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4EC9B0"/>
                </a:solidFill>
                <a:latin typeface="Consolas"/>
              </a:rPr>
              <a:t>KMeans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586C0"/>
                </a:solidFill>
                <a:latin typeface="Consolas"/>
              </a:rPr>
              <a:t>from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sklearn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D4D4D4"/>
                </a:solidFill>
                <a:latin typeface="Consolas"/>
              </a:rPr>
              <a:t>preprocessing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</a:rPr>
              <a:t>import</a:t>
            </a:r>
            <a:r>
              <a:rPr sz="900">
                <a:solidFill>
                  <a:srgbClr val="D4D4D4"/>
                </a:solidFill>
                <a:latin typeface="Consolas"/>
              </a:rPr>
              <a:t>\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4EC9B0"/>
                </a:solidFill>
                <a:latin typeface="Consolas"/>
              </a:rPr>
              <a:t>StandardScaler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9CDCFE"/>
                </a:solidFill>
                <a:latin typeface="Consolas"/>
              </a:rPr>
              <a:t>scaler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4EC9B0"/>
                </a:solidFill>
                <a:latin typeface="Consolas"/>
              </a:rPr>
              <a:t>StandardScaler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9CDCFE"/>
                </a:solidFill>
                <a:latin typeface="Consolas"/>
              </a:rPr>
              <a:t>X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9CDCFE"/>
                </a:solidFill>
                <a:latin typeface="Consolas"/>
              </a:rPr>
              <a:t>scaler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D4D4D4"/>
                </a:solidFill>
                <a:latin typeface="Consolas"/>
              </a:rPr>
              <a:t>fit_transform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9CDCFE"/>
                </a:solidFill>
                <a:latin typeface="Consolas"/>
              </a:rPr>
              <a:t>features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9CDCFE"/>
                </a:solidFill>
                <a:latin typeface="Consolas"/>
              </a:rPr>
              <a:t>kmeans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4EC9B0"/>
                </a:solidFill>
                <a:latin typeface="Consolas"/>
              </a:rPr>
              <a:t>KMeans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n_clusters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B5CEA8"/>
                </a:solidFill>
                <a:latin typeface="Consolas"/>
              </a:rPr>
              <a:t>3</a:t>
            </a:r>
            <a:r>
              <a:rPr sz="900">
                <a:solidFill>
                  <a:srgbClr val="D4D4D4"/>
                </a:solidFill>
                <a:latin typeface="Consolas"/>
              </a:rPr>
              <a:t>,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n_init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B5CEA8"/>
                </a:solidFill>
                <a:latin typeface="Consolas"/>
              </a:rPr>
              <a:t>30</a:t>
            </a:r>
            <a:r>
              <a:rPr sz="9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max_iter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B5CEA8"/>
                </a:solidFill>
                <a:latin typeface="Consolas"/>
              </a:rPr>
              <a:t>500</a:t>
            </a:r>
            <a:r>
              <a:rPr sz="900">
                <a:solidFill>
                  <a:srgbClr val="D4D4D4"/>
                </a:solidFill>
                <a:latin typeface="Consolas"/>
              </a:rPr>
              <a:t>,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random_state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B5CEA8"/>
                </a:solidFill>
                <a:latin typeface="Consolas"/>
              </a:rPr>
              <a:t>42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9CDCFE"/>
                </a:solidFill>
                <a:latin typeface="Consolas"/>
              </a:rPr>
              <a:t>labels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9CDCFE"/>
                </a:solidFill>
                <a:latin typeface="Consolas"/>
              </a:rPr>
              <a:t>kmeans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D4D4D4"/>
                </a:solidFill>
                <a:latin typeface="Consolas"/>
              </a:rPr>
              <a:t>fit_predict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9CDCFE"/>
                </a:solidFill>
                <a:latin typeface="Consolas"/>
              </a:rPr>
              <a:t>X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5303520" cy="2468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79"/>
            <a:ext cx="54864" cy="2286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8619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Calibri"/>
              </a:defRPr>
            </a:pPr>
            <a:r>
              <a:t>🟢  Hierarchical Clustering (Phương pháp xác nhận)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5195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Gộp từ dưới lên (Agglomerative)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2627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Ward linkage: minimize phương sai nội cụm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0059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Xây dựng cây phân cấp (dendrogram)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7491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Cắt cây ở mức 3 cụm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4923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So sánh với K-Means bằng ARI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749039"/>
            <a:ext cx="5303520" cy="246888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749039"/>
            <a:ext cx="5303520" cy="292608"/>
          </a:xfrm>
          <a:prstGeom prst="rect">
            <a:avLst/>
          </a:prstGeom>
          <a:solidFill>
            <a:srgbClr val="2D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76732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090A0"/>
                </a:solidFill>
                <a:latin typeface="Consolas"/>
              </a:defRPr>
            </a:pPr>
            <a:r>
              <a:t>Hierarchical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059935"/>
            <a:ext cx="5029200" cy="2084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A9955"/>
                </a:solidFill>
                <a:latin typeface="Consolas"/>
              </a:rPr>
              <a:t># === HIERARCHICAL ===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586C0"/>
                </a:solidFill>
                <a:latin typeface="Consolas"/>
              </a:rPr>
              <a:t>from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sklearn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D4D4D4"/>
                </a:solidFill>
                <a:latin typeface="Consolas"/>
              </a:rPr>
              <a:t>cluster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</a:rPr>
              <a:t>import</a:t>
            </a:r>
            <a:r>
              <a:rPr sz="900">
                <a:solidFill>
                  <a:srgbClr val="D4D4D4"/>
                </a:solidFill>
                <a:latin typeface="Consolas"/>
              </a:rPr>
              <a:t>\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4EC9B0"/>
                </a:solidFill>
                <a:latin typeface="Consolas"/>
              </a:rPr>
              <a:t>AgglomerativeClustering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586C0"/>
                </a:solidFill>
                <a:latin typeface="Consolas"/>
              </a:rPr>
              <a:t>from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sklearn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D4D4D4"/>
                </a:solidFill>
                <a:latin typeface="Consolas"/>
              </a:rPr>
              <a:t>metrics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</a:rPr>
              <a:t>import</a:t>
            </a:r>
            <a:r>
              <a:rPr sz="900">
                <a:solidFill>
                  <a:srgbClr val="D4D4D4"/>
                </a:solidFill>
                <a:latin typeface="Consolas"/>
              </a:rPr>
              <a:t>\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adjusted_rand_score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9CDCFE"/>
                </a:solidFill>
                <a:latin typeface="Consolas"/>
              </a:rPr>
              <a:t>hc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4EC9B0"/>
                </a:solidFill>
                <a:latin typeface="Consolas"/>
              </a:rPr>
              <a:t>AgglomerativeClustering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n_clusters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B5CEA8"/>
                </a:solidFill>
                <a:latin typeface="Consolas"/>
              </a:rPr>
              <a:t>3</a:t>
            </a:r>
            <a:r>
              <a:rPr sz="9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linkage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CE9178"/>
                </a:solidFill>
                <a:latin typeface="Consolas"/>
              </a:rPr>
              <a:t>'ward'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labels_hc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9CDCFE"/>
                </a:solidFill>
                <a:latin typeface="Consolas"/>
              </a:rPr>
              <a:t>hc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D4D4D4"/>
                </a:solidFill>
                <a:latin typeface="Consolas"/>
              </a:rPr>
              <a:t>fit_predict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  <a:r>
              <a:rPr sz="900">
                <a:solidFill>
                  <a:srgbClr val="9CDCFE"/>
                </a:solidFill>
                <a:latin typeface="Consolas"/>
              </a:rPr>
              <a:t>X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A9955"/>
                </a:solidFill>
                <a:latin typeface="Consolas"/>
              </a:rPr>
              <a:t># So sanh 2 phuong phap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9CDCFE"/>
                </a:solidFill>
                <a:latin typeface="Consolas"/>
              </a:rPr>
              <a:t>ari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adjusted_rand_score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labels_km</a:t>
            </a:r>
            <a:r>
              <a:rPr sz="900">
                <a:solidFill>
                  <a:srgbClr val="D4D4D4"/>
                </a:solidFill>
                <a:latin typeface="Consolas"/>
              </a:rPr>
              <a:t>,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labels_hc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2D6CDF"/>
              </a:gs>
              <a:gs pos="100000">
                <a:srgbClr val="7B2FF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04  KẾT QUẢ PHÂN CỤM</a:t>
            </a:r>
          </a:p>
        </p:txBody>
      </p:sp>
      <p:pic>
        <p:nvPicPr>
          <p:cNvPr id="4" name="Picture 3" descr="bieu_do_phan_c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5029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1188720"/>
            <a:ext cx="502920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280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🟢  NHÓM GIỎI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691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5A6E"/>
                </a:solidFill>
                <a:latin typeface="Calibri"/>
              </a:defRPr>
            </a:pPr>
            <a:r>
              <a:t>19 sinh viên (34.5%)  •  GPA TB: 3.15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651760"/>
            <a:ext cx="502920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743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🟡  NHÓM KHÁ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154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5A6E"/>
                </a:solidFill>
                <a:latin typeface="Calibri"/>
              </a:defRPr>
            </a:pPr>
            <a:r>
              <a:t>25 sinh viên (45.5%)  •  GPA TB: 2.58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4114800"/>
            <a:ext cx="502920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🔴  NHÓM TRUNG BÌNH - YẾU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617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5A6E"/>
                </a:solidFill>
                <a:latin typeface="Calibri"/>
              </a:defRPr>
            </a:pPr>
            <a:r>
              <a:t>11 sinh viên (20.0%)  •  GPA TB: 2.20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5577840"/>
            <a:ext cx="502920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5669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✅ Silhouette Score = 0.3222 → Phân cụm KHÁ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2D6CDF"/>
              </a:gs>
              <a:gs pos="100000">
                <a:srgbClr val="7B2FF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04  ĐÁNH GIÁ CHẤT LƯỢNG PHÂN CỤM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" cy="210312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6CDF"/>
                </a:solidFill>
                <a:latin typeface="Calibri"/>
              </a:defRPr>
            </a:pPr>
            <a:r>
              <a:t>📏  Silhouette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Đo mức độ tách biệt giữa các cụm (-1 →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&gt; 0.5:    Phân cụm rất tốt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0.3 - 0.5:  Phân cụm khá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&lt; 0.3:    Phân cụm yếu 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➤ K-Means: 0.3222  |  Hierarchical: 0.4166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530352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4864" cy="2103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325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97316"/>
                </a:solidFill>
                <a:latin typeface="Calibri"/>
              </a:defRPr>
            </a:pPr>
            <a:r>
              <a:t>🔄  So sánh 2 phương pháp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6916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Adjusted Rand Index (ARI): 0.3655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659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92240" y="22402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&gt; 0.8:    Rất tương đồng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146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0.5 - 0.8:  Tương đối tương đồng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78892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• &lt; 0.5:    Khác biệt đáng kể ⚠️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632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492240" y="33375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➤ Kết quả: Có sự khác biệt nhất định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749039"/>
            <a:ext cx="5303520" cy="27432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749039"/>
            <a:ext cx="5303520" cy="292608"/>
          </a:xfrm>
          <a:prstGeom prst="rect">
            <a:avLst/>
          </a:prstGeom>
          <a:solidFill>
            <a:srgbClr val="2D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76732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090A0"/>
                </a:solidFill>
                <a:latin typeface="Consolas"/>
              </a:defRPr>
            </a:pPr>
            <a:r>
              <a:t>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059935"/>
            <a:ext cx="5029200" cy="2359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A9955"/>
                </a:solidFill>
                <a:latin typeface="Consolas"/>
              </a:rPr>
              <a:t># === DANH GIA ===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586C0"/>
                </a:solidFill>
                <a:latin typeface="Consolas"/>
              </a:rPr>
              <a:t>from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sklearn</a:t>
            </a:r>
            <a:r>
              <a:rPr sz="900">
                <a:solidFill>
                  <a:srgbClr val="D4D4D4"/>
                </a:solidFill>
                <a:latin typeface="Consolas"/>
              </a:rPr>
              <a:t>.</a:t>
            </a:r>
            <a:r>
              <a:rPr sz="900">
                <a:solidFill>
                  <a:srgbClr val="D4D4D4"/>
                </a:solidFill>
                <a:latin typeface="Consolas"/>
              </a:rPr>
              <a:t>metrics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</a:rPr>
              <a:t>import</a:t>
            </a:r>
            <a:r>
              <a:rPr sz="900">
                <a:solidFill>
                  <a:srgbClr val="D4D4D4"/>
                </a:solidFill>
                <a:latin typeface="Consolas"/>
              </a:rPr>
              <a:t>\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silhouette_score</a:t>
            </a:r>
            <a:r>
              <a:rPr sz="900">
                <a:solidFill>
                  <a:srgbClr val="D4D4D4"/>
                </a:solidFill>
                <a:latin typeface="Consolas"/>
              </a:rPr>
              <a:t>,</a:t>
            </a:r>
            <a:r>
              <a:rPr sz="900">
                <a:solidFill>
                  <a:srgbClr val="D4D4D4"/>
                </a:solidFill>
                <a:latin typeface="Consolas"/>
              </a:rPr>
              <a:t>\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adjusted_rand_score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A9955"/>
                </a:solidFill>
                <a:latin typeface="Consolas"/>
              </a:rPr>
              <a:t># Silhouette Score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sil_km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silhouette_score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9CDCFE"/>
                </a:solidFill>
                <a:latin typeface="Consolas"/>
              </a:rPr>
              <a:t>X</a:t>
            </a:r>
            <a:r>
              <a:rPr sz="900">
                <a:solidFill>
                  <a:srgbClr val="D4D4D4"/>
                </a:solidFill>
                <a:latin typeface="Consolas"/>
              </a:rPr>
              <a:t>,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labels_km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6A9955"/>
                </a:solidFill>
                <a:latin typeface="Consolas"/>
              </a:rPr>
              <a:t># 0.3222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sil_hc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silhouette_score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9CDCFE"/>
                </a:solidFill>
                <a:latin typeface="Consolas"/>
              </a:rPr>
              <a:t>X</a:t>
            </a:r>
            <a:r>
              <a:rPr sz="900">
                <a:solidFill>
                  <a:srgbClr val="D4D4D4"/>
                </a:solidFill>
                <a:latin typeface="Consolas"/>
              </a:rPr>
              <a:t>,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labels_hc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6A9955"/>
                </a:solidFill>
                <a:latin typeface="Consolas"/>
              </a:rPr>
              <a:t># 0.4166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A9955"/>
                </a:solidFill>
                <a:latin typeface="Consolas"/>
              </a:rPr>
              <a:t># Adjusted Rand Index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9CDCFE"/>
                </a:solidFill>
                <a:latin typeface="Consolas"/>
              </a:rPr>
              <a:t>ari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adjusted_rand_score</a:t>
            </a:r>
            <a:r>
              <a:rPr sz="900">
                <a:solidFill>
                  <a:srgbClr val="D4D4D4"/>
                </a:solidFill>
                <a:latin typeface="Consolas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labels_km</a:t>
            </a:r>
            <a:r>
              <a:rPr sz="900">
                <a:solidFill>
                  <a:srgbClr val="D4D4D4"/>
                </a:solidFill>
                <a:latin typeface="Consolas"/>
              </a:rPr>
              <a:t>,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</a:rPr>
              <a:t>labels_hc</a:t>
            </a:r>
            <a:r>
              <a:rPr sz="900">
                <a:solidFill>
                  <a:srgbClr val="D4D4D4"/>
                </a:solidFill>
                <a:latin typeface="Consolas"/>
              </a:rPr>
              <a:t>)</a:t>
            </a:r>
            <a:r>
              <a:rPr sz="900">
                <a:solidFill>
                  <a:srgbClr val="D4D4D4"/>
                </a:solidFill>
                <a:latin typeface="Consolas"/>
              </a:rPr>
              <a:t> </a:t>
            </a:r>
            <a:r>
              <a:rPr sz="900">
                <a:solidFill>
                  <a:srgbClr val="6A9955"/>
                </a:solidFill>
                <a:latin typeface="Consolas"/>
              </a:rPr>
              <a:t># 0.37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749039"/>
            <a:ext cx="530352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840479"/>
            <a:ext cx="54864" cy="2560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88619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Calibri"/>
              </a:defRPr>
            </a:pPr>
            <a:r>
              <a:t>📊  Bảng kết quả chi tiết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25195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╔═══════════════╦═══════╦════════╦═══════╗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52627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║  Nhóm         ║  SL   ║ GPA TB ║ Tỷ lệ║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80059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╠═══════════════╬═══════╬════════╬═══════╣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07491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║ 🟢 Giỏi       ║ 19 SV ║  3.15  ║ 34.5% 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34923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║ 🟡 Khá        ║ 25 SV ║  2.58  ║ 45.5% 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62355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║ 🔴 TB-Yếu     ║ 11 SV ║  2.20  ║ 20.0% 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89787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╚═══════════════╩═══════╩════════╩═══════╝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617219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Tổng: 55 SV (đã loại 16 SV chưa có điểm)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2D6CDF"/>
              </a:gs>
              <a:gs pos="100000">
                <a:srgbClr val="7B2FF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05  KẾT LUẬN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2377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" cy="2194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Calibri"/>
              </a:defRPr>
            </a:pPr>
            <a:r>
              <a:t>🏆  Kết quả đạt được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✅ Phân cụm thành công 55 SV → 3 nhóm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✅ Silhouette Score: 0.3222 (khá)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✅ Giỏi: 19 SV | Khá: 25 SV | TB-Yếu: 11 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✅ Không xử lý NaN — giữ nguyên dữ liệu gốc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✅ Tự động xuất 3 file Excel theo nhóm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03520" cy="2377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4864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25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💡  Nhận xét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916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📌 Nhóm Khá chiếm tỷ lệ lớn nhất (45.5%)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📌 Nhóm Giỏi: GPA TB ≥ 3.0 (34.5%)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📌 Nhóm TB-Yếu: GPA TB ~ 2.20 (20%)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146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📌 16 SV chưa nhập điểm → loại khỏi phân cụm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78892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📌 Dữ liệu NaN giữ nguyên → tính toán tự nhiên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11064240" cy="2377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54864" cy="21945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B2FF7"/>
                </a:solidFill>
                <a:latin typeface="Calibri"/>
              </a:defRPr>
            </a:pPr>
            <a:r>
              <a:t>🚀  Hướng phát triển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3484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🔹 Thu thập đủ dữ liệu: Bổ sung điểm cho 16 SV chưa nhập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091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🔹 Thử nghiệm thêm: DBSCAN, Gaussian Mixture Model để so sánh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8348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🔹 Phân tích sâu: Xác định môn nào ảnh hưởng nhất đến phân nhóm (Feature Importance)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5780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🔹 Ứng dụng: Đề xuất phương pháp hỗ trợ học tập phù hợp cho từng nhóm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5321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6E"/>
                </a:solidFill>
                <a:latin typeface="Calibri"/>
              </a:defRPr>
            </a:pPr>
            <a:r>
              <a:t>🔹 Tối ưu: Thử các giá trị K khác (Elbow Method) để xác nhận K=3 tối ưu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2D6CDF"/>
              </a:gs>
              <a:gs pos="100000">
                <a:srgbClr val="7B2FF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1A1A2E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1A2E"/>
                </a:solidFill>
                <a:latin typeface="Calibri"/>
              </a:defRPr>
            </a:pPr>
            <a:r>
              <a:t>CẢM ƠN THẦY/CÔ VÀ CÁC BẠN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6CDF"/>
                </a:solidFill>
                <a:latin typeface="Calibri"/>
              </a:defRPr>
            </a:pPr>
            <a:r>
              <a:t>ĐÃ LẮNG NGHE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663440"/>
            <a:ext cx="3931920" cy="36576"/>
          </a:xfrm>
          <a:prstGeom prst="rect">
            <a:avLst/>
          </a:prstGeom>
          <a:gradFill rotWithShape="1">
            <a:gsLst>
              <a:gs pos="0">
                <a:srgbClr val="2D6CDF"/>
              </a:gs>
              <a:gs pos="100000">
                <a:srgbClr val="7B2FF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A5A6E"/>
                </a:solidFill>
                <a:latin typeface="Calibri"/>
              </a:defRPr>
            </a:pPr>
            <a:r>
              <a:t>Phân cụm sinh viên  •  K-Means &amp; Hierarchical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Calibri"/>
              </a:defRPr>
            </a:pPr>
            <a:r>
              <a:t>Rất mong nhận được ý kiến đóng góp từ thầy/cô và các bạn!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